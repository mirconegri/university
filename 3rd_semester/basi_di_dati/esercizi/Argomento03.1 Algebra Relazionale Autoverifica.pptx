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2"/>
  </p:notesMasterIdLst>
  <p:sldIdLst>
    <p:sldId id="258" r:id="rId2"/>
    <p:sldId id="438" r:id="rId3"/>
    <p:sldId id="439" r:id="rId4"/>
    <p:sldId id="440" r:id="rId5"/>
    <p:sldId id="441" r:id="rId6"/>
    <p:sldId id="442" r:id="rId7"/>
    <p:sldId id="443" r:id="rId8"/>
    <p:sldId id="444" r:id="rId9"/>
    <p:sldId id="445" r:id="rId10"/>
    <p:sldId id="446" r:id="rId11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FBC10E3-47DC-441B-AEFF-74193266A630}" v="1" dt="2024-09-26T10:13:43.41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13" d="100"/>
          <a:sy n="113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olo Bouquet" userId="9742448a1dd8e377" providerId="LiveId" clId="{9FBC10E3-47DC-441B-AEFF-74193266A630}"/>
    <pc:docChg chg="addSld delSld modSld">
      <pc:chgData name="Paolo Bouquet" userId="9742448a1dd8e377" providerId="LiveId" clId="{9FBC10E3-47DC-441B-AEFF-74193266A630}" dt="2024-09-30T10:03:50.104" v="11" actId="20577"/>
      <pc:docMkLst>
        <pc:docMk/>
      </pc:docMkLst>
      <pc:sldChg chg="add">
        <pc:chgData name="Paolo Bouquet" userId="9742448a1dd8e377" providerId="LiveId" clId="{9FBC10E3-47DC-441B-AEFF-74193266A630}" dt="2024-09-26T10:13:43.411" v="1"/>
        <pc:sldMkLst>
          <pc:docMk/>
          <pc:sldMk cId="1850957011" sldId="258"/>
        </pc:sldMkLst>
      </pc:sldChg>
      <pc:sldChg chg="del">
        <pc:chgData name="Paolo Bouquet" userId="9742448a1dd8e377" providerId="LiveId" clId="{9FBC10E3-47DC-441B-AEFF-74193266A630}" dt="2024-09-26T10:13:42.576" v="0" actId="47"/>
        <pc:sldMkLst>
          <pc:docMk/>
          <pc:sldMk cId="1033816416" sldId="259"/>
        </pc:sldMkLst>
      </pc:sldChg>
      <pc:sldChg chg="del">
        <pc:chgData name="Paolo Bouquet" userId="9742448a1dd8e377" providerId="LiveId" clId="{9FBC10E3-47DC-441B-AEFF-74193266A630}" dt="2024-09-26T10:13:42.576" v="0" actId="47"/>
        <pc:sldMkLst>
          <pc:docMk/>
          <pc:sldMk cId="260984970" sldId="260"/>
        </pc:sldMkLst>
      </pc:sldChg>
      <pc:sldChg chg="del">
        <pc:chgData name="Paolo Bouquet" userId="9742448a1dd8e377" providerId="LiveId" clId="{9FBC10E3-47DC-441B-AEFF-74193266A630}" dt="2024-09-26T10:13:42.576" v="0" actId="47"/>
        <pc:sldMkLst>
          <pc:docMk/>
          <pc:sldMk cId="2698031354" sldId="261"/>
        </pc:sldMkLst>
      </pc:sldChg>
      <pc:sldChg chg="add">
        <pc:chgData name="Paolo Bouquet" userId="9742448a1dd8e377" providerId="LiveId" clId="{9FBC10E3-47DC-441B-AEFF-74193266A630}" dt="2024-09-26T10:13:43.411" v="1"/>
        <pc:sldMkLst>
          <pc:docMk/>
          <pc:sldMk cId="1464821638" sldId="438"/>
        </pc:sldMkLst>
      </pc:sldChg>
      <pc:sldChg chg="modSp add mod">
        <pc:chgData name="Paolo Bouquet" userId="9742448a1dd8e377" providerId="LiveId" clId="{9FBC10E3-47DC-441B-AEFF-74193266A630}" dt="2024-09-30T10:03:50.104" v="11" actId="20577"/>
        <pc:sldMkLst>
          <pc:docMk/>
          <pc:sldMk cId="4288865690" sldId="439"/>
        </pc:sldMkLst>
        <pc:spChg chg="mod">
          <ac:chgData name="Paolo Bouquet" userId="9742448a1dd8e377" providerId="LiveId" clId="{9FBC10E3-47DC-441B-AEFF-74193266A630}" dt="2024-09-30T10:03:50.104" v="11" actId="20577"/>
          <ac:spMkLst>
            <pc:docMk/>
            <pc:sldMk cId="4288865690" sldId="439"/>
            <ac:spMk id="3" creationId="{E415DBE9-9C54-FABB-C47D-37D194674484}"/>
          </ac:spMkLst>
        </pc:spChg>
      </pc:sldChg>
      <pc:sldChg chg="add">
        <pc:chgData name="Paolo Bouquet" userId="9742448a1dd8e377" providerId="LiveId" clId="{9FBC10E3-47DC-441B-AEFF-74193266A630}" dt="2024-09-26T10:13:43.411" v="1"/>
        <pc:sldMkLst>
          <pc:docMk/>
          <pc:sldMk cId="1588815135" sldId="440"/>
        </pc:sldMkLst>
      </pc:sldChg>
      <pc:sldChg chg="add">
        <pc:chgData name="Paolo Bouquet" userId="9742448a1dd8e377" providerId="LiveId" clId="{9FBC10E3-47DC-441B-AEFF-74193266A630}" dt="2024-09-26T10:13:43.411" v="1"/>
        <pc:sldMkLst>
          <pc:docMk/>
          <pc:sldMk cId="2077603944" sldId="441"/>
        </pc:sldMkLst>
      </pc:sldChg>
      <pc:sldChg chg="add">
        <pc:chgData name="Paolo Bouquet" userId="9742448a1dd8e377" providerId="LiveId" clId="{9FBC10E3-47DC-441B-AEFF-74193266A630}" dt="2024-09-26T10:13:43.411" v="1"/>
        <pc:sldMkLst>
          <pc:docMk/>
          <pc:sldMk cId="652300518" sldId="442"/>
        </pc:sldMkLst>
      </pc:sldChg>
      <pc:sldChg chg="add">
        <pc:chgData name="Paolo Bouquet" userId="9742448a1dd8e377" providerId="LiveId" clId="{9FBC10E3-47DC-441B-AEFF-74193266A630}" dt="2024-09-26T10:13:43.411" v="1"/>
        <pc:sldMkLst>
          <pc:docMk/>
          <pc:sldMk cId="1836245460" sldId="443"/>
        </pc:sldMkLst>
      </pc:sldChg>
      <pc:sldChg chg="add">
        <pc:chgData name="Paolo Bouquet" userId="9742448a1dd8e377" providerId="LiveId" clId="{9FBC10E3-47DC-441B-AEFF-74193266A630}" dt="2024-09-26T10:13:43.411" v="1"/>
        <pc:sldMkLst>
          <pc:docMk/>
          <pc:sldMk cId="776771786" sldId="444"/>
        </pc:sldMkLst>
      </pc:sldChg>
      <pc:sldChg chg="add">
        <pc:chgData name="Paolo Bouquet" userId="9742448a1dd8e377" providerId="LiveId" clId="{9FBC10E3-47DC-441B-AEFF-74193266A630}" dt="2024-09-26T10:13:43.411" v="1"/>
        <pc:sldMkLst>
          <pc:docMk/>
          <pc:sldMk cId="382046725" sldId="445"/>
        </pc:sldMkLst>
      </pc:sldChg>
      <pc:sldChg chg="add">
        <pc:chgData name="Paolo Bouquet" userId="9742448a1dd8e377" providerId="LiveId" clId="{9FBC10E3-47DC-441B-AEFF-74193266A630}" dt="2024-09-26T10:13:43.411" v="1"/>
        <pc:sldMkLst>
          <pc:docMk/>
          <pc:sldMk cId="2169178357" sldId="446"/>
        </pc:sldMkLst>
      </pc:sldChg>
      <pc:sldChg chg="del">
        <pc:chgData name="Paolo Bouquet" userId="9742448a1dd8e377" providerId="LiveId" clId="{9FBC10E3-47DC-441B-AEFF-74193266A630}" dt="2024-09-26T10:13:42.576" v="0" actId="47"/>
        <pc:sldMkLst>
          <pc:docMk/>
          <pc:sldMk cId="1020588109" sldId="447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DD6245B-DD3C-433A-8F60-07B6401B4B19}" type="datetimeFigureOut">
              <a:rPr lang="it-IT" smtClean="0"/>
              <a:t>03/10/2024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Modifica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9A4E74-7F8D-4756-8073-501F59ED07E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6716139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Slide Image Placeholder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5" name="Notes Placeholder 2"/>
          <p:cNvSpPr>
            <a:spLocks noGrp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altLang="en-US">
              <a:latin typeface="Arial" panose="020B0604020202020204" pitchFamily="34" charset="0"/>
            </a:endParaRPr>
          </a:p>
        </p:txBody>
      </p:sp>
      <p:sp>
        <p:nvSpPr>
          <p:cNvPr id="8196" name="Slide Number Placeholder 3"/>
          <p:cNvSpPr>
            <a:spLocks noGrp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FDC197AC-7E76-4CEF-B446-FD7DB2F057F5}" type="slidenum">
              <a:rPr kumimoji="0" lang="en-CA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rPr>
              <a:pPr marL="0" marR="0" lvl="0" indent="0" algn="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CA" alt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034504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68788235"/>
      </p:ext>
    </p:extLst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72248068"/>
      </p:ext>
    </p:extLst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19618" y="1600200"/>
            <a:ext cx="5427133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949952" y="1600200"/>
            <a:ext cx="5429249" cy="45720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9245600" y="64008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ea typeface="MS PGothic" panose="020B0600070205080204" pitchFamily="34" charset="-128"/>
              </a:rPr>
              <a:t>Slide 1- </a:t>
            </a:r>
            <a:fld id="{0D9685F3-E3BE-460D-86E4-1E69C13973E3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‹N›</a:t>
            </a:fld>
            <a:endParaRPr lang="en-CA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170877174"/>
      </p:ext>
    </p:extLst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1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9245600" y="64008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ea typeface="MS PGothic" panose="020B0600070205080204" pitchFamily="34" charset="-128"/>
              </a:rPr>
              <a:t>Slide 1- </a:t>
            </a:r>
            <a:fld id="{0821B89F-70D9-40A6-9C38-8146A27A328C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‹N›</a:t>
            </a:fld>
            <a:endParaRPr lang="en-CA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796140696"/>
      </p:ext>
    </p:extLst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14656217"/>
      </p:ext>
    </p:extLst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61106747"/>
      </p:ext>
    </p:extLst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1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9245600" y="64008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ea typeface="MS PGothic" panose="020B0600070205080204" pitchFamily="34" charset="-128"/>
              </a:rPr>
              <a:t>Slide 1- </a:t>
            </a:r>
            <a:fld id="{04E99CF8-3E61-4770-97D2-4088C0EF6290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‹N›</a:t>
            </a:fld>
            <a:endParaRPr lang="en-CA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4011924109"/>
      </p:ext>
    </p:extLst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1190253"/>
      </p:ext>
    </p:extLst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9245600" y="64008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ea typeface="MS PGothic" panose="020B0600070205080204" pitchFamily="34" charset="-128"/>
              </a:rPr>
              <a:t>Slide 1- </a:t>
            </a:r>
            <a:fld id="{B0A701E0-A098-4D88-8E0B-A0D1C4969883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‹N›</a:t>
            </a:fld>
            <a:endParaRPr lang="en-CA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515631445"/>
      </p:ext>
    </p:extLst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10600" y="303214"/>
            <a:ext cx="2768600" cy="58689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04800" y="303214"/>
            <a:ext cx="8102600" cy="58689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13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9245600" y="6400800"/>
            <a:ext cx="2540000" cy="457200"/>
          </a:xfrm>
          <a:prstGeom prst="rect">
            <a:avLst/>
          </a:prstGeom>
          <a:ln/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ea typeface="MS PGothic" panose="020B0600070205080204" pitchFamily="34" charset="-128"/>
              </a:rPr>
              <a:t>Slide 1- </a:t>
            </a:r>
            <a:fld id="{8E834DC7-A0D3-499D-A824-9207CFE56563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‹N›</a:t>
            </a:fld>
            <a:endParaRPr lang="en-CA" altLang="en-US">
              <a:ea typeface="MS PGothic" panose="020B060007020508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501792541"/>
      </p:ext>
    </p:extLst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5"/>
          <p:cNvGrpSpPr>
            <a:grpSpLocks/>
          </p:cNvGrpSpPr>
          <p:nvPr userDrawn="1"/>
        </p:nvGrpSpPr>
        <p:grpSpPr bwMode="auto">
          <a:xfrm>
            <a:off x="11914717" y="1449388"/>
            <a:ext cx="277283" cy="5408612"/>
            <a:chOff x="5606" y="889"/>
            <a:chExt cx="154" cy="3431"/>
          </a:xfrm>
        </p:grpSpPr>
        <p:sp>
          <p:nvSpPr>
            <p:cNvPr id="1032" name="Rectangle 38"/>
            <p:cNvSpPr>
              <a:spLocks noChangeArrowheads="1"/>
            </p:cNvSpPr>
            <p:nvPr userDrawn="1"/>
          </p:nvSpPr>
          <p:spPr bwMode="gray">
            <a:xfrm flipH="1">
              <a:off x="5685" y="889"/>
              <a:ext cx="75" cy="3431"/>
            </a:xfrm>
            <a:prstGeom prst="rect">
              <a:avLst/>
            </a:prstGeom>
            <a:solidFill>
              <a:srgbClr val="677228"/>
            </a:solidFill>
            <a:ln>
              <a:noFill/>
            </a:ln>
            <a:extLst>
              <a:ext uri="{91240B29-F687-4f45-9708-019B960494DF}"/>
            </a:extLst>
          </p:spPr>
          <p:txBody>
            <a:bodyPr wrap="none" anchor="ctr"/>
            <a:lstStyle>
              <a:lvl1pPr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1pPr>
              <a:lvl2pPr marL="742950" indent="-28575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2pPr>
              <a:lvl3pPr marL="11430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3pPr>
              <a:lvl4pPr marL="16002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4pPr>
              <a:lvl5pPr marL="2057400" indent="-228600"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>
                  <a:solidFill>
                    <a:schemeClr val="tx1"/>
                  </a:solidFill>
                  <a:latin typeface="Arial" panose="020B0604020202020204" pitchFamily="34" charset="0"/>
                </a:defRPr>
              </a:lvl9pPr>
            </a:lstStyle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1" lang="en-US" altLang="en-US" sz="3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MS PGothic" panose="020B0600070205080204" pitchFamily="34" charset="-128"/>
                <a:cs typeface="+mn-cs"/>
              </a:endParaRPr>
            </a:p>
          </p:txBody>
        </p:sp>
        <p:grpSp>
          <p:nvGrpSpPr>
            <p:cNvPr id="1033" name="Group 44"/>
            <p:cNvGrpSpPr>
              <a:grpSpLocks/>
            </p:cNvGrpSpPr>
            <p:nvPr userDrawn="1"/>
          </p:nvGrpSpPr>
          <p:grpSpPr bwMode="auto">
            <a:xfrm>
              <a:off x="5606" y="889"/>
              <a:ext cx="106" cy="3431"/>
              <a:chOff x="5606" y="889"/>
              <a:chExt cx="106" cy="3431"/>
            </a:xfrm>
          </p:grpSpPr>
          <p:sp>
            <p:nvSpPr>
              <p:cNvPr id="1034" name="Rectangle 43"/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06" y="889"/>
                <a:ext cx="58" cy="3431"/>
              </a:xfrm>
              <a:prstGeom prst="rect">
                <a:avLst/>
              </a:prstGeom>
              <a:solidFill>
                <a:schemeClr val="tx2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  <p:sp>
            <p:nvSpPr>
              <p:cNvPr id="1035" name="Rectangle 32"/>
              <p:cNvSpPr>
                <a:spLocks noChangeArrowheads="1"/>
              </p:cNvSpPr>
              <p:nvPr userDrawn="1"/>
            </p:nvSpPr>
            <p:spPr bwMode="gray">
              <a:xfrm rot="10800000" flipH="1">
                <a:off x="5654" y="889"/>
                <a:ext cx="58" cy="3431"/>
              </a:xfrm>
              <a:prstGeom prst="rect">
                <a:avLst/>
              </a:prstGeom>
              <a:solidFill>
                <a:srgbClr val="990033"/>
              </a:solidFill>
              <a:ln>
                <a:noFill/>
              </a:ln>
              <a:extLst>
                <a:ext uri="{91240B29-F687-4f45-9708-019B960494DF}"/>
              </a:extLst>
            </p:spPr>
            <p:txBody>
              <a:bodyPr rot="10800000" wrap="none" anchor="ctr"/>
              <a:lstStyle>
                <a:lvl1pPr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1pPr>
                <a:lvl2pPr marL="742950" indent="-28575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2pPr>
                <a:lvl3pPr marL="11430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3pPr>
                <a:lvl4pPr marL="16002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4pPr>
                <a:lvl5pPr marL="2057400" indent="-228600"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2400">
                    <a:solidFill>
                      <a:schemeClr val="tx1"/>
                    </a:solidFill>
                    <a:latin typeface="Arial" panose="020B0604020202020204" pitchFamily="34" charset="0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1" lang="en-US" altLang="en-US" sz="32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ahoma" panose="020B0604030504040204" pitchFamily="34" charset="0"/>
                  <a:ea typeface="MS PGothic" panose="020B0600070205080204" pitchFamily="34" charset="-128"/>
                  <a:cs typeface="+mn-cs"/>
                </a:endParaRPr>
              </a:p>
            </p:txBody>
          </p:sp>
        </p:grpSp>
      </p:grpSp>
      <p:sp>
        <p:nvSpPr>
          <p:cNvPr id="1027" name="Rectangle 37"/>
          <p:cNvSpPr>
            <a:spLocks noChangeArrowheads="1"/>
          </p:cNvSpPr>
          <p:nvPr userDrawn="1"/>
        </p:nvSpPr>
        <p:spPr bwMode="gray">
          <a:xfrm rot="16200000">
            <a:off x="5369190" y="-5369190"/>
            <a:ext cx="1449388" cy="12187767"/>
          </a:xfrm>
          <a:prstGeom prst="rect">
            <a:avLst/>
          </a:prstGeom>
          <a:solidFill>
            <a:srgbClr val="677228">
              <a:alpha val="36078"/>
            </a:srgbClr>
          </a:solidFill>
          <a:ln>
            <a:noFill/>
          </a:ln>
          <a:extLst>
            <a:ext uri="{91240B29-F687-4f45-9708-019B960494DF}"/>
          </a:extLst>
        </p:spPr>
        <p:txBody>
          <a:bodyPr vert="eaVert" wrap="none" anchor="ctr"/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en-US" altLang="en-US" sz="3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ahoma" panose="020B0604030504040204" pitchFamily="34" charset="0"/>
              <a:ea typeface="MS PGothic" panose="020B0600070205080204" pitchFamily="34" charset="-128"/>
              <a:cs typeface="+mn-cs"/>
            </a:endParaRPr>
          </a:p>
        </p:txBody>
      </p:sp>
      <p:sp>
        <p:nvSpPr>
          <p:cNvPr id="1028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304801" y="303214"/>
            <a:ext cx="10394951" cy="992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Rectangle 21"/>
          <p:cNvSpPr>
            <a:spLocks noGrp="1" noChangeArrowheads="1"/>
          </p:cNvSpPr>
          <p:nvPr>
            <p:ph type="body" idx="1"/>
          </p:nvPr>
        </p:nvSpPr>
        <p:spPr bwMode="auto">
          <a:xfrm>
            <a:off x="319618" y="1600200"/>
            <a:ext cx="11059583" cy="457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7394447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</p:sldLayoutIdLst>
  <p:transition spd="med"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+mj-lt"/>
          <a:ea typeface="MS PGothic" panose="020B0600070205080204" pitchFamily="34" charset="-128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  <a:ea typeface="MS PGothic" panose="020B0600070205080204" pitchFamily="34" charset="-128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800000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60000"/>
        <a:buFont typeface="Wingdings" panose="05000000000000000000" pitchFamily="2" charset="2"/>
        <a:buChar char="n"/>
        <a:defRPr sz="2800">
          <a:solidFill>
            <a:schemeClr val="tx2"/>
          </a:solidFill>
          <a:latin typeface="+mn-lt"/>
          <a:ea typeface="MS PGothic" panose="020B0600070205080204" pitchFamily="34" charset="-128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600">
          <a:solidFill>
            <a:srgbClr val="800000"/>
          </a:solidFill>
          <a:latin typeface="+mn-lt"/>
          <a:ea typeface="MS PGothic" panose="020B0600070205080204" pitchFamily="34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400">
          <a:solidFill>
            <a:schemeClr val="tx2"/>
          </a:solidFill>
          <a:latin typeface="+mn-lt"/>
          <a:ea typeface="MS PGothic" panose="020B0600070205080204" pitchFamily="34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SzPct val="55000"/>
        <a:buFont typeface="Wingdings" panose="05000000000000000000" pitchFamily="2" charset="2"/>
        <a:buChar char="n"/>
        <a:defRPr sz="2000">
          <a:solidFill>
            <a:srgbClr val="800000"/>
          </a:solidFill>
          <a:latin typeface="+mn-lt"/>
          <a:ea typeface="MS PGothic" panose="020B0600070205080204" pitchFamily="34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anose="05000000000000000000" pitchFamily="2" charset="2"/>
        <a:buChar char="n"/>
        <a:defRPr sz="2000">
          <a:solidFill>
            <a:schemeClr val="tx2"/>
          </a:solidFill>
          <a:latin typeface="+mn-lt"/>
          <a:ea typeface="MS PGothic" panose="020B0600070205080204" pitchFamily="34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990033"/>
        </a:buClr>
        <a:buSzPct val="50000"/>
        <a:buFont typeface="Wingdings" pitchFamily="2" charset="2"/>
        <a:buChar char="n"/>
        <a:defRPr sz="2000">
          <a:solidFill>
            <a:schemeClr val="tx2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 err="1"/>
              <a:t>EsercitazionI</a:t>
            </a:r>
            <a:r>
              <a:rPr lang="it-IT" dirty="0"/>
              <a:t> di algebra relazionale</a:t>
            </a:r>
            <a:endParaRPr lang="en-US" altLang="en-US" dirty="0"/>
          </a:p>
        </p:txBody>
      </p:sp>
      <p:sp>
        <p:nvSpPr>
          <p:cNvPr id="5" name="Segnaposto testo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it-IT" dirty="0"/>
              <a:t>Corso di Basi di Dati</a:t>
            </a:r>
          </a:p>
        </p:txBody>
      </p:sp>
    </p:spTree>
    <p:extLst>
      <p:ext uri="{BB962C8B-B14F-4D97-AF65-F5344CB8AC3E}">
        <p14:creationId xmlns:p14="http://schemas.microsoft.com/office/powerpoint/2010/main" val="1850957011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Titolo 1">
            <a:extLst>
              <a:ext uri="{FF2B5EF4-FFF2-40B4-BE49-F238E27FC236}">
                <a16:creationId xmlns:a16="http://schemas.microsoft.com/office/drawing/2014/main" id="{CB6AD249-5393-4C4F-B676-379EDB24F85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 dirty="0"/>
              <a:t>Schema SAILORS</a:t>
            </a:r>
          </a:p>
        </p:txBody>
      </p:sp>
      <p:sp>
        <p:nvSpPr>
          <p:cNvPr id="84995" name="Segnaposto contenuto 2">
            <a:extLst>
              <a:ext uri="{FF2B5EF4-FFF2-40B4-BE49-F238E27FC236}">
                <a16:creationId xmlns:a16="http://schemas.microsoft.com/office/drawing/2014/main" id="{4627973B-51B3-76FD-7E08-88848FA66BAD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it-IT" altLang="it-IT" dirty="0"/>
              <a:t>Schema e istanza utilizzati per gli esempi:</a:t>
            </a:r>
          </a:p>
          <a:p>
            <a:endParaRPr lang="it-IT" altLang="it-IT" dirty="0"/>
          </a:p>
        </p:txBody>
      </p:sp>
      <p:pic>
        <p:nvPicPr>
          <p:cNvPr id="84996" name="Immagine 4">
            <a:extLst>
              <a:ext uri="{FF2B5EF4-FFF2-40B4-BE49-F238E27FC236}">
                <a16:creationId xmlns:a16="http://schemas.microsoft.com/office/drawing/2014/main" id="{31A66373-981F-EFB9-067B-B6E448E9682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00200" y="2611438"/>
            <a:ext cx="5989638" cy="27987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4997" name="Immagine 6">
            <a:extLst>
              <a:ext uri="{FF2B5EF4-FFF2-40B4-BE49-F238E27FC236}">
                <a16:creationId xmlns:a16="http://schemas.microsoft.com/office/drawing/2014/main" id="{87CAE3BA-5B9D-9566-3049-EE5403B4BF5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88301" y="3352800"/>
            <a:ext cx="2468563" cy="1485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4998" name="CasellaDiTesto 7">
            <a:extLst>
              <a:ext uri="{FF2B5EF4-FFF2-40B4-BE49-F238E27FC236}">
                <a16:creationId xmlns:a16="http://schemas.microsoft.com/office/drawing/2014/main" id="{DEC5038E-6300-5197-BC2E-40112C52205A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1828801" y="5486400"/>
            <a:ext cx="1858963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it-IT" altLang="it-IT" sz="1800"/>
              <a:t>Sailors (S3)</a:t>
            </a:r>
          </a:p>
        </p:txBody>
      </p:sp>
      <p:sp>
        <p:nvSpPr>
          <p:cNvPr id="84999" name="CasellaDiTesto 8">
            <a:extLst>
              <a:ext uri="{FF2B5EF4-FFF2-40B4-BE49-F238E27FC236}">
                <a16:creationId xmlns:a16="http://schemas.microsoft.com/office/drawing/2014/main" id="{F095148A-7AE2-FCC0-5290-58A9E9389260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5684838" y="5486400"/>
            <a:ext cx="18589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it-IT" altLang="it-IT" sz="1800"/>
              <a:t>Reserves (R2)</a:t>
            </a:r>
          </a:p>
        </p:txBody>
      </p:sp>
      <p:sp>
        <p:nvSpPr>
          <p:cNvPr id="85000" name="CasellaDiTesto 9">
            <a:extLst>
              <a:ext uri="{FF2B5EF4-FFF2-40B4-BE49-F238E27FC236}">
                <a16:creationId xmlns:a16="http://schemas.microsoft.com/office/drawing/2014/main" id="{F5671B2E-4064-A2E2-325A-8530996381A0}"/>
              </a:ext>
            </a:extLst>
          </p:cNvPr>
          <p:cNvSpPr txBox="1">
            <a:spLocks noChangeArrowheads="1"/>
          </p:cNvSpPr>
          <p:nvPr/>
        </p:nvSpPr>
        <p:spPr bwMode="auto">
          <a:xfrm flipH="1">
            <a:off x="8047038" y="4876800"/>
            <a:ext cx="18589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anose="020B0604020202020204" pitchFamily="34" charset="0"/>
                <a:ea typeface="MS PGothic" panose="020B0600070205080204" pitchFamily="34" charset="-128"/>
              </a:defRPr>
            </a:lvl9pPr>
          </a:lstStyle>
          <a:p>
            <a:r>
              <a:rPr lang="it-IT" altLang="it-IT" sz="1800"/>
              <a:t>Boats (B1)</a:t>
            </a:r>
          </a:p>
        </p:txBody>
      </p:sp>
    </p:spTree>
    <p:extLst>
      <p:ext uri="{BB962C8B-B14F-4D97-AF65-F5344CB8AC3E}">
        <p14:creationId xmlns:p14="http://schemas.microsoft.com/office/powerpoint/2010/main" val="1464821638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018" name="Titolo 1">
            <a:extLst>
              <a:ext uri="{FF2B5EF4-FFF2-40B4-BE49-F238E27FC236}">
                <a16:creationId xmlns:a16="http://schemas.microsoft.com/office/drawing/2014/main" id="{BFEB82BF-B04F-5B3D-21DD-A824C16564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it-IT" altLang="it-IT"/>
              <a:t>Q1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415DBE9-9C54-FABB-C47D-37D1946744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it-IT" b="1" dirty="0"/>
              <a:t>Nomi di tutti i marinai che hanno noleggiato la barca #103</a:t>
            </a:r>
          </a:p>
          <a:p>
            <a:pPr>
              <a:defRPr/>
            </a:pPr>
            <a:endParaRPr lang="it-IT" dirty="0"/>
          </a:p>
          <a:p>
            <a:pPr lvl="1">
              <a:defRPr/>
            </a:pPr>
            <a:r>
              <a:rPr lang="it-IT" dirty="0"/>
              <a:t>Versione 1:</a:t>
            </a:r>
          </a:p>
          <a:p>
            <a:pPr>
              <a:defRPr/>
            </a:pPr>
            <a:endParaRPr lang="it-IT" dirty="0"/>
          </a:p>
          <a:p>
            <a:pPr marL="0" indent="0">
              <a:buNone/>
              <a:defRPr/>
            </a:pPr>
            <a:endParaRPr lang="it-IT" dirty="0"/>
          </a:p>
          <a:p>
            <a:pPr lvl="1">
              <a:defRPr/>
            </a:pPr>
            <a:r>
              <a:rPr lang="it-IT" dirty="0"/>
              <a:t>Versione 2:</a:t>
            </a:r>
          </a:p>
          <a:p>
            <a:pPr>
              <a:defRPr/>
            </a:pPr>
            <a:endParaRPr lang="it-IT" dirty="0"/>
          </a:p>
          <a:p>
            <a:pPr>
              <a:defRPr/>
            </a:pPr>
            <a:endParaRPr lang="it-IT" dirty="0"/>
          </a:p>
          <a:p>
            <a:pPr>
              <a:defRPr/>
            </a:pPr>
            <a:r>
              <a:rPr lang="it-IT" dirty="0"/>
              <a:t>Qual è la differenza importante tra le due versioni?</a:t>
            </a:r>
          </a:p>
        </p:txBody>
      </p:sp>
      <p:pic>
        <p:nvPicPr>
          <p:cNvPr id="86020" name="Immagine 6">
            <a:extLst>
              <a:ext uri="{FF2B5EF4-FFF2-40B4-BE49-F238E27FC236}">
                <a16:creationId xmlns:a16="http://schemas.microsoft.com/office/drawing/2014/main" id="{50673CC4-80BF-EACC-864E-BBAF22C157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3286126"/>
            <a:ext cx="5334000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86021" name="Immagine 8">
            <a:extLst>
              <a:ext uri="{FF2B5EF4-FFF2-40B4-BE49-F238E27FC236}">
                <a16:creationId xmlns:a16="http://schemas.microsoft.com/office/drawing/2014/main" id="{1B50AAFF-810D-2FC9-A532-094987A41EF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4800600"/>
            <a:ext cx="4933950" cy="609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Immagine 3">
            <a:extLst>
              <a:ext uri="{FF2B5EF4-FFF2-40B4-BE49-F238E27FC236}">
                <a16:creationId xmlns:a16="http://schemas.microsoft.com/office/drawing/2014/main" id="{F9080605-5C54-2E7A-F096-CC3E4D4D908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0089" y="3378200"/>
            <a:ext cx="333422" cy="266737"/>
          </a:xfrm>
          <a:prstGeom prst="rect">
            <a:avLst/>
          </a:prstGeom>
        </p:spPr>
      </p:pic>
      <p:pic>
        <p:nvPicPr>
          <p:cNvPr id="6" name="Immagine 5">
            <a:extLst>
              <a:ext uri="{FF2B5EF4-FFF2-40B4-BE49-F238E27FC236}">
                <a16:creationId xmlns:a16="http://schemas.microsoft.com/office/drawing/2014/main" id="{A27CBE60-FB13-47BB-170A-918C9EEEE75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25134" y="4912766"/>
            <a:ext cx="333422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8865690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Titolo 1">
            <a:extLst>
              <a:ext uri="{FF2B5EF4-FFF2-40B4-BE49-F238E27FC236}">
                <a16:creationId xmlns:a16="http://schemas.microsoft.com/office/drawing/2014/main" id="{771B12BB-D6CC-7978-722F-847C9F2D05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752601" y="284164"/>
            <a:ext cx="7796213" cy="992187"/>
          </a:xfrm>
        </p:spPr>
        <p:txBody>
          <a:bodyPr/>
          <a:lstStyle/>
          <a:p>
            <a:r>
              <a:rPr lang="it-IT" altLang="it-IT"/>
              <a:t>Q1 (cont.)</a:t>
            </a:r>
          </a:p>
        </p:txBody>
      </p:sp>
      <p:sp>
        <p:nvSpPr>
          <p:cNvPr id="87043" name="Segnaposto contenuto 2">
            <a:extLst>
              <a:ext uri="{FF2B5EF4-FFF2-40B4-BE49-F238E27FC236}">
                <a16:creationId xmlns:a16="http://schemas.microsoft.com/office/drawing/2014/main" id="{FFDF017E-C255-2F54-8D04-4D047162EB82}"/>
              </a:ext>
            </a:extLst>
          </p:cNvPr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r>
              <a:rPr lang="it-IT" altLang="it-IT" b="1" dirty="0"/>
              <a:t>Tutti i marinai che hanno noleggiato la barca #103</a:t>
            </a:r>
          </a:p>
          <a:p>
            <a:endParaRPr lang="it-IT" altLang="it-IT" dirty="0"/>
          </a:p>
          <a:p>
            <a:pPr lvl="1"/>
            <a:r>
              <a:rPr lang="it-IT" altLang="it-IT" dirty="0"/>
              <a:t>Versione 2bis (con esplicitazione delle relazioni intermedie)</a:t>
            </a:r>
          </a:p>
        </p:txBody>
      </p:sp>
      <p:pic>
        <p:nvPicPr>
          <p:cNvPr id="87044" name="Immagine 4">
            <a:extLst>
              <a:ext uri="{FF2B5EF4-FFF2-40B4-BE49-F238E27FC236}">
                <a16:creationId xmlns:a16="http://schemas.microsoft.com/office/drawing/2014/main" id="{8D2DB707-7F75-91F3-FCC2-BD6B57F63E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7601" y="3810001"/>
            <a:ext cx="4506913" cy="193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Immagine 2">
            <a:extLst>
              <a:ext uri="{FF2B5EF4-FFF2-40B4-BE49-F238E27FC236}">
                <a16:creationId xmlns:a16="http://schemas.microsoft.com/office/drawing/2014/main" id="{A57683C9-C414-0A1F-59FB-E6F85446D2A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42556" y="4643419"/>
            <a:ext cx="412244" cy="3297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8815135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2E67CC-C992-9356-E232-CAAE6BEE2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Q2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F300BE-A3B3-AF71-F917-1CAADAE3EB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it-IT" b="1" dirty="0"/>
              <a:t>Nomi dei marinai che hanno prenotato una barca rossa</a:t>
            </a:r>
          </a:p>
          <a:p>
            <a:pPr lvl="1"/>
            <a:r>
              <a:rPr lang="it-IT" dirty="0"/>
              <a:t>Versione 1</a:t>
            </a:r>
          </a:p>
          <a:p>
            <a:pPr marL="457200" lvl="1" indent="0">
              <a:buNone/>
            </a:pPr>
            <a:endParaRPr lang="it-IT" dirty="0"/>
          </a:p>
          <a:p>
            <a:pPr lvl="1"/>
            <a:endParaRPr lang="it-IT" dirty="0"/>
          </a:p>
          <a:p>
            <a:pPr lvl="1"/>
            <a:endParaRPr lang="it-IT" dirty="0"/>
          </a:p>
          <a:p>
            <a:pPr lvl="1"/>
            <a:r>
              <a:rPr lang="it-IT" dirty="0"/>
              <a:t>Versione  (più efficiente)</a:t>
            </a:r>
          </a:p>
          <a:p>
            <a:pPr lvl="1"/>
            <a:endParaRPr lang="it-IT" dirty="0"/>
          </a:p>
          <a:p>
            <a:pPr lvl="1"/>
            <a:endParaRPr lang="it-IT" dirty="0"/>
          </a:p>
          <a:p>
            <a:r>
              <a:rPr lang="it-IT" dirty="0"/>
              <a:t>L’ottimizzatore di query del DBMS è in grado di trasformare automaticamente la prima nella seconda!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7B07232-DF6E-A1EB-932A-6B9C3269CE1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45600" y="6427694"/>
            <a:ext cx="2540000" cy="4572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ea typeface="MS PGothic" panose="020B0600070205080204" pitchFamily="34" charset="-128"/>
              </a:rPr>
              <a:t>Slide 1- </a:t>
            </a:r>
            <a:fld id="{8FD0A39B-3EEC-48AE-9664-CD9492881572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5</a:t>
            </a:fld>
            <a:endParaRPr lang="en-CA" altLang="en-US">
              <a:ea typeface="MS PGothic" panose="020B0600070205080204" pitchFamily="34" charset="-128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9500F918-2854-E4EF-E0EB-3D54741E987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99840" y="2900318"/>
            <a:ext cx="6592220" cy="638264"/>
          </a:xfrm>
          <a:prstGeom prst="rect">
            <a:avLst/>
          </a:prstGeom>
        </p:spPr>
      </p:pic>
      <p:pic>
        <p:nvPicPr>
          <p:cNvPr id="8" name="Immagine 7">
            <a:extLst>
              <a:ext uri="{FF2B5EF4-FFF2-40B4-BE49-F238E27FC236}">
                <a16:creationId xmlns:a16="http://schemas.microsoft.com/office/drawing/2014/main" id="{FC92A095-0201-F53B-8738-C42CB01D367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7113" y="4590957"/>
            <a:ext cx="6630325" cy="666843"/>
          </a:xfrm>
          <a:prstGeom prst="rect">
            <a:avLst/>
          </a:prstGeom>
        </p:spPr>
      </p:pic>
      <p:pic>
        <p:nvPicPr>
          <p:cNvPr id="7" name="Immagine 6">
            <a:extLst>
              <a:ext uri="{FF2B5EF4-FFF2-40B4-BE49-F238E27FC236}">
                <a16:creationId xmlns:a16="http://schemas.microsoft.com/office/drawing/2014/main" id="{6B7A0AC9-88B1-93EA-2DED-9938D409958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82822" y="4791009"/>
            <a:ext cx="333422" cy="266737"/>
          </a:xfrm>
          <a:prstGeom prst="rect">
            <a:avLst/>
          </a:prstGeom>
        </p:spPr>
      </p:pic>
      <p:pic>
        <p:nvPicPr>
          <p:cNvPr id="10" name="Immagine 9">
            <a:extLst>
              <a:ext uri="{FF2B5EF4-FFF2-40B4-BE49-F238E27FC236}">
                <a16:creationId xmlns:a16="http://schemas.microsoft.com/office/drawing/2014/main" id="{00A7BE72-ADA5-FF5D-CA65-E52448FA3F7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96000" y="3040137"/>
            <a:ext cx="333422" cy="266737"/>
          </a:xfrm>
          <a:prstGeom prst="rect">
            <a:avLst/>
          </a:prstGeom>
        </p:spPr>
      </p:pic>
      <p:pic>
        <p:nvPicPr>
          <p:cNvPr id="12" name="Immagine 11">
            <a:extLst>
              <a:ext uri="{FF2B5EF4-FFF2-40B4-BE49-F238E27FC236}">
                <a16:creationId xmlns:a16="http://schemas.microsoft.com/office/drawing/2014/main" id="{4E2FC98C-3E48-40B6-0BDE-4C7DB8DEF0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7222" y="3062276"/>
            <a:ext cx="333422" cy="266737"/>
          </a:xfrm>
          <a:prstGeom prst="rect">
            <a:avLst/>
          </a:prstGeom>
        </p:spPr>
      </p:pic>
      <p:pic>
        <p:nvPicPr>
          <p:cNvPr id="14" name="Immagine 13">
            <a:extLst>
              <a:ext uri="{FF2B5EF4-FFF2-40B4-BE49-F238E27FC236}">
                <a16:creationId xmlns:a16="http://schemas.microsoft.com/office/drawing/2014/main" id="{B01EF5BA-A305-2BC5-C745-6760198A10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83419" y="4774074"/>
            <a:ext cx="333422" cy="2667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77603944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2E67CC-C992-9356-E232-CAAE6BEE2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Q3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F300BE-A3B3-AF71-F917-1CAADAE3E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618" y="1600200"/>
            <a:ext cx="11465982" cy="4572000"/>
          </a:xfrm>
        </p:spPr>
        <p:txBody>
          <a:bodyPr/>
          <a:lstStyle/>
          <a:p>
            <a:r>
              <a:rPr lang="it-IT" b="1" dirty="0"/>
              <a:t>Nomi dei marinai che hanno prenotato una barca rossa o verde</a:t>
            </a:r>
          </a:p>
          <a:p>
            <a:pPr lvl="1"/>
            <a:endParaRPr lang="it-IT" b="1" dirty="0"/>
          </a:p>
          <a:p>
            <a:pPr lvl="1"/>
            <a:endParaRPr lang="it-IT" b="1" dirty="0"/>
          </a:p>
          <a:p>
            <a:pPr lvl="1"/>
            <a:endParaRPr lang="it-IT" b="1" dirty="0"/>
          </a:p>
          <a:p>
            <a:pPr lvl="1"/>
            <a:endParaRPr lang="it-IT" b="1" dirty="0"/>
          </a:p>
          <a:p>
            <a:pPr lvl="1"/>
            <a:endParaRPr lang="it-IT" b="1" dirty="0"/>
          </a:p>
          <a:p>
            <a:pPr lvl="1"/>
            <a:r>
              <a:rPr lang="it-IT" b="1" dirty="0"/>
              <a:t>Come va riscritta la query senza introdurre esplicitamente relazioni intermedie?</a:t>
            </a:r>
          </a:p>
          <a:p>
            <a:pPr lvl="1"/>
            <a:r>
              <a:rPr lang="it-IT" b="1" dirty="0"/>
              <a:t>Come si può riscrivere la query usando l’operatore UNIONE?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7B07232-DF6E-A1EB-932A-6B9C3269CE1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45600" y="6427694"/>
            <a:ext cx="2540000" cy="4572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ea typeface="MS PGothic" panose="020B0600070205080204" pitchFamily="34" charset="-128"/>
              </a:rPr>
              <a:t>Slide 1- </a:t>
            </a:r>
            <a:fld id="{8FD0A39B-3EEC-48AE-9664-CD9492881572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6</a:t>
            </a:fld>
            <a:endParaRPr lang="en-CA" altLang="en-US">
              <a:ea typeface="MS PGothic" panose="020B0600070205080204" pitchFamily="34" charset="-128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1AC32215-C6D6-AF95-1CB7-351311178A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1732" y="2676420"/>
            <a:ext cx="7068536" cy="1505160"/>
          </a:xfrm>
          <a:prstGeom prst="rect">
            <a:avLst/>
          </a:prstGeom>
        </p:spPr>
      </p:pic>
      <p:pic>
        <p:nvPicPr>
          <p:cNvPr id="11" name="Immagine 10">
            <a:extLst>
              <a:ext uri="{FF2B5EF4-FFF2-40B4-BE49-F238E27FC236}">
                <a16:creationId xmlns:a16="http://schemas.microsoft.com/office/drawing/2014/main" id="{A076301C-E045-A6AE-FC70-5D2E5127E8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87199" y="3545434"/>
            <a:ext cx="436541" cy="34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2300518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2E67CC-C992-9356-E232-CAAE6BEE2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Q4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F300BE-A3B3-AF71-F917-1CAADAE3E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618" y="1600200"/>
            <a:ext cx="11465982" cy="4572000"/>
          </a:xfrm>
        </p:spPr>
        <p:txBody>
          <a:bodyPr/>
          <a:lstStyle/>
          <a:p>
            <a:r>
              <a:rPr lang="it-IT" b="1" dirty="0"/>
              <a:t>Nomi dei marinai che hanno prenotato una barca rossa e una barca verde</a:t>
            </a:r>
          </a:p>
          <a:p>
            <a:endParaRPr lang="it-IT" b="1" dirty="0"/>
          </a:p>
          <a:p>
            <a:endParaRPr lang="it-IT" b="1" dirty="0"/>
          </a:p>
          <a:p>
            <a:endParaRPr lang="it-IT" b="1" dirty="0"/>
          </a:p>
          <a:p>
            <a:endParaRPr lang="it-IT" b="1" dirty="0"/>
          </a:p>
          <a:p>
            <a:r>
              <a:rPr lang="it-IT" b="1" dirty="0"/>
              <a:t>NB: usare una selezione con condizione </a:t>
            </a:r>
            <a:r>
              <a:rPr lang="it-IT" b="1" i="1" dirty="0">
                <a:solidFill>
                  <a:srgbClr val="00B050"/>
                </a:solidFill>
              </a:rPr>
              <a:t>color=‘red’ AND color=‘green’</a:t>
            </a:r>
            <a:r>
              <a:rPr lang="it-IT" b="1" i="1" dirty="0"/>
              <a:t> </a:t>
            </a:r>
            <a:r>
              <a:rPr lang="it-IT" b="1" dirty="0"/>
              <a:t>ovviamente non sarebbe corretto! Che risultato darebbe? </a:t>
            </a:r>
          </a:p>
          <a:p>
            <a:pPr lvl="1"/>
            <a:endParaRPr lang="it-IT" b="1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7B07232-DF6E-A1EB-932A-6B9C3269CE1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45600" y="6427694"/>
            <a:ext cx="2540000" cy="4572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ea typeface="MS PGothic" panose="020B0600070205080204" pitchFamily="34" charset="-128"/>
              </a:rPr>
              <a:t>Slide 1- </a:t>
            </a:r>
            <a:fld id="{8FD0A39B-3EEC-48AE-9664-CD9492881572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7</a:t>
            </a:fld>
            <a:endParaRPr lang="en-CA" altLang="en-US">
              <a:ea typeface="MS PGothic" panose="020B0600070205080204" pitchFamily="34" charset="-128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F9A85B17-3908-4378-05D1-419FA527EB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95232" y="2838367"/>
            <a:ext cx="5801535" cy="11812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6245460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2E67CC-C992-9356-E232-CAAE6BEE2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Q4bis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F300BE-A3B3-AF71-F917-1CAADAE3E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618" y="1600200"/>
            <a:ext cx="11465982" cy="4572000"/>
          </a:xfrm>
        </p:spPr>
        <p:txBody>
          <a:bodyPr/>
          <a:lstStyle/>
          <a:p>
            <a:r>
              <a:rPr lang="it-IT" b="1" dirty="0"/>
              <a:t>Nomi dei marinai che hanno prenotato una barca rossa e una barca verde</a:t>
            </a:r>
          </a:p>
          <a:p>
            <a:r>
              <a:rPr lang="it-IT" dirty="0"/>
              <a:t>Perché questa versione della query non sarebbe corretta? </a:t>
            </a:r>
          </a:p>
          <a:p>
            <a:endParaRPr lang="it-IT" b="1" dirty="0"/>
          </a:p>
          <a:p>
            <a:endParaRPr lang="it-IT" b="1" dirty="0"/>
          </a:p>
          <a:p>
            <a:endParaRPr lang="it-IT" b="1" dirty="0"/>
          </a:p>
          <a:p>
            <a:endParaRPr lang="it-IT" b="1" dirty="0"/>
          </a:p>
          <a:p>
            <a:endParaRPr lang="it-IT" dirty="0"/>
          </a:p>
          <a:p>
            <a:r>
              <a:rPr lang="it-IT" dirty="0"/>
              <a:t>Indizio: </a:t>
            </a:r>
            <a:r>
              <a:rPr lang="it-IT" i="1" dirty="0" err="1"/>
              <a:t>sid</a:t>
            </a:r>
            <a:r>
              <a:rPr lang="it-IT" i="1" dirty="0"/>
              <a:t> </a:t>
            </a:r>
            <a:r>
              <a:rPr lang="it-IT" dirty="0"/>
              <a:t>è chiave in Sailors, </a:t>
            </a:r>
            <a:r>
              <a:rPr lang="it-IT" i="1" dirty="0" err="1"/>
              <a:t>sname</a:t>
            </a:r>
            <a:r>
              <a:rPr lang="it-IT" i="1" dirty="0"/>
              <a:t> </a:t>
            </a:r>
            <a:r>
              <a:rPr lang="it-IT" dirty="0"/>
              <a:t>no</a:t>
            </a:r>
          </a:p>
          <a:p>
            <a:pPr lvl="1"/>
            <a:endParaRPr lang="it-IT" b="1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7B07232-DF6E-A1EB-932A-6B9C3269CE1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45600" y="6427694"/>
            <a:ext cx="2540000" cy="4572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ea typeface="MS PGothic" panose="020B0600070205080204" pitchFamily="34" charset="-128"/>
              </a:rPr>
              <a:t>Slide 1- </a:t>
            </a:r>
            <a:fld id="{8FD0A39B-3EEC-48AE-9664-CD9492881572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8</a:t>
            </a:fld>
            <a:endParaRPr lang="en-CA" altLang="en-US">
              <a:ea typeface="MS PGothic" panose="020B0600070205080204" pitchFamily="34" charset="-128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34F93D5E-510F-86C1-CA67-76E98770A6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75472" y="3605138"/>
            <a:ext cx="7154273" cy="10574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6771786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2E67CC-C992-9356-E232-CAAE6BEE2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Q5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F300BE-A3B3-AF71-F917-1CAADAE3E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618" y="1600200"/>
            <a:ext cx="11465982" cy="4572000"/>
          </a:xfrm>
        </p:spPr>
        <p:txBody>
          <a:bodyPr/>
          <a:lstStyle/>
          <a:p>
            <a:r>
              <a:rPr lang="it-IT" b="1" dirty="0"/>
              <a:t>Nomi dei marinai che hanno prenotato tutte le barche</a:t>
            </a:r>
          </a:p>
          <a:p>
            <a:endParaRPr lang="it-IT" b="1" dirty="0"/>
          </a:p>
          <a:p>
            <a:endParaRPr lang="it-IT" b="1" dirty="0"/>
          </a:p>
          <a:p>
            <a:endParaRPr lang="it-IT" b="1" dirty="0"/>
          </a:p>
          <a:p>
            <a:endParaRPr lang="it-IT" b="1" dirty="0"/>
          </a:p>
          <a:p>
            <a:endParaRPr lang="it-IT" b="1" dirty="0"/>
          </a:p>
          <a:p>
            <a:pPr lvl="1"/>
            <a:r>
              <a:rPr lang="it-IT" dirty="0"/>
              <a:t>La divisione ci permette di trovare facilmente tutti i </a:t>
            </a:r>
            <a:r>
              <a:rPr lang="it-IT" i="1" dirty="0" err="1"/>
              <a:t>sid</a:t>
            </a:r>
            <a:r>
              <a:rPr lang="it-IT" dirty="0"/>
              <a:t> dei marinai che sono associati a tutti i valori di </a:t>
            </a:r>
            <a:r>
              <a:rPr lang="it-IT" i="1" dirty="0" err="1"/>
              <a:t>bid</a:t>
            </a:r>
            <a:r>
              <a:rPr lang="it-IT" i="1" dirty="0"/>
              <a:t> </a:t>
            </a:r>
            <a:r>
              <a:rPr lang="it-IT" dirty="0"/>
              <a:t>in </a:t>
            </a:r>
            <a:r>
              <a:rPr lang="it-IT" i="1" dirty="0"/>
              <a:t>Boats</a:t>
            </a:r>
            <a:endParaRPr lang="it-IT" dirty="0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7B07232-DF6E-A1EB-932A-6B9C3269CE1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45600" y="6427694"/>
            <a:ext cx="2540000" cy="4572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ea typeface="MS PGothic" panose="020B0600070205080204" pitchFamily="34" charset="-128"/>
              </a:rPr>
              <a:t>Slide 1- </a:t>
            </a:r>
            <a:fld id="{8FD0A39B-3EEC-48AE-9664-CD9492881572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9</a:t>
            </a:fld>
            <a:endParaRPr lang="en-CA" altLang="en-US">
              <a:ea typeface="MS PGothic" panose="020B0600070205080204" pitchFamily="34" charset="-128"/>
            </a:endParaRPr>
          </a:p>
        </p:txBody>
      </p:sp>
      <p:pic>
        <p:nvPicPr>
          <p:cNvPr id="6" name="Immagine 5">
            <a:extLst>
              <a:ext uri="{FF2B5EF4-FFF2-40B4-BE49-F238E27FC236}">
                <a16:creationId xmlns:a16="http://schemas.microsoft.com/office/drawing/2014/main" id="{73AC8BF5-6CE7-B8DD-35E5-FC6580283C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9890" y="2762157"/>
            <a:ext cx="6592220" cy="1333686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35ADCA23-F8F5-CB4F-CD23-D2FC94952AF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2276" y="3536968"/>
            <a:ext cx="436541" cy="3492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046725"/>
      </p:ext>
    </p:extLst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72E67CC-C992-9356-E232-CAAE6BEE2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Q6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39F300BE-A3B3-AF71-F917-1CAADAE3EB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19618" y="1600200"/>
            <a:ext cx="11465982" cy="4572000"/>
          </a:xfrm>
        </p:spPr>
        <p:txBody>
          <a:bodyPr/>
          <a:lstStyle/>
          <a:p>
            <a:r>
              <a:rPr lang="it-IT" b="1" dirty="0"/>
              <a:t>Nomi dei marinai che hanno prenotato almeno 2 barche</a:t>
            </a:r>
          </a:p>
          <a:p>
            <a:endParaRPr lang="it-IT" b="1" dirty="0"/>
          </a:p>
          <a:p>
            <a:endParaRPr lang="it-IT" b="1" dirty="0"/>
          </a:p>
          <a:p>
            <a:endParaRPr lang="it-IT" b="1" dirty="0"/>
          </a:p>
          <a:p>
            <a:endParaRPr lang="it-IT" b="1" dirty="0"/>
          </a:p>
          <a:p>
            <a:endParaRPr lang="it-IT" b="1" dirty="0"/>
          </a:p>
          <a:p>
            <a:pPr lvl="1"/>
            <a:endParaRPr lang="it-IT" dirty="0"/>
          </a:p>
          <a:p>
            <a:pPr lvl="1"/>
            <a:r>
              <a:rPr lang="it-IT" dirty="0"/>
              <a:t>Mettendo in JOIN una relazione con se stessa, è necessario rinominare gli attributi che si ripetono!</a:t>
            </a:r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B7B07232-DF6E-A1EB-932A-6B9C3269CE18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9245600" y="6427694"/>
            <a:ext cx="2540000" cy="457200"/>
          </a:xfrm>
          <a:prstGeom prst="rect">
            <a:avLst/>
          </a:prstGeom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en-US" altLang="en-US">
                <a:ea typeface="MS PGothic" panose="020B0600070205080204" pitchFamily="34" charset="-128"/>
              </a:rPr>
              <a:t>Slide 1- </a:t>
            </a:r>
            <a:fld id="{8FD0A39B-3EEC-48AE-9664-CD9492881572}" type="slidenum">
              <a:rPr lang="en-US" altLang="en-US" smtClean="0">
                <a:ea typeface="MS PGothic" panose="020B0600070205080204" pitchFamily="34" charset="-128"/>
              </a:rPr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en-CA" altLang="en-US">
              <a:ea typeface="MS PGothic" panose="020B0600070205080204" pitchFamily="34" charset="-128"/>
            </a:endParaRPr>
          </a:p>
        </p:txBody>
      </p:sp>
      <p:pic>
        <p:nvPicPr>
          <p:cNvPr id="7" name="Immagine 6">
            <a:extLst>
              <a:ext uri="{FF2B5EF4-FFF2-40B4-BE49-F238E27FC236}">
                <a16:creationId xmlns:a16="http://schemas.microsoft.com/office/drawing/2014/main" id="{0CFE488C-3C39-6F53-7A98-962822DEC6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06359" y="2516929"/>
            <a:ext cx="8379281" cy="1824141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8C31504F-DA9D-CF47-FE1A-E70DEC4E051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43465" y="3496733"/>
            <a:ext cx="370418" cy="2963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9178357"/>
      </p:ext>
    </p:extLst>
  </p:cSld>
  <p:clrMapOvr>
    <a:masterClrMapping/>
  </p:clrMapOvr>
  <p:transition spd="med"/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Blends">
  <a:themeElements>
    <a:clrScheme name="Blends 2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Blends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blipFill dpi="0" rotWithShape="0">
          <a:blip xmlns:r="http://schemas.openxmlformats.org/officeDocument/2006/relationships" r:embed="rId1"/>
          <a:srcRect/>
          <a:tile tx="0" ty="0" sx="100000" sy="100000" flip="none" algn="tl"/>
        </a:blip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CA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1946</TotalTime>
  <Words>301</Words>
  <Application>Microsoft Office PowerPoint</Application>
  <PresentationFormat>Widescreen</PresentationFormat>
  <Paragraphs>80</Paragraphs>
  <Slides>10</Slides>
  <Notes>1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10</vt:i4>
      </vt:variant>
    </vt:vector>
  </HeadingPairs>
  <TitlesOfParts>
    <vt:vector size="16" baseType="lpstr">
      <vt:lpstr>MS PGothic</vt:lpstr>
      <vt:lpstr>Arial</vt:lpstr>
      <vt:lpstr>Calibri</vt:lpstr>
      <vt:lpstr>Tahoma</vt:lpstr>
      <vt:lpstr>Wingdings</vt:lpstr>
      <vt:lpstr>Blends</vt:lpstr>
      <vt:lpstr>EsercitazionI di algebra relazionale</vt:lpstr>
      <vt:lpstr>Schema SAILORS</vt:lpstr>
      <vt:lpstr>Q1</vt:lpstr>
      <vt:lpstr>Q1 (cont.)</vt:lpstr>
      <vt:lpstr>Q2</vt:lpstr>
      <vt:lpstr>Q3</vt:lpstr>
      <vt:lpstr>Q4</vt:lpstr>
      <vt:lpstr>Q4bis</vt:lpstr>
      <vt:lpstr>Q5</vt:lpstr>
      <vt:lpstr>Q6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Esercitazione di algebra relazionale</dc:title>
  <dc:creator>paolo.bouquet</dc:creator>
  <cp:lastModifiedBy>Paolo Bouquet</cp:lastModifiedBy>
  <cp:revision>8</cp:revision>
  <dcterms:created xsi:type="dcterms:W3CDTF">2021-10-27T07:57:22Z</dcterms:created>
  <dcterms:modified xsi:type="dcterms:W3CDTF">2024-10-03T08:40:49Z</dcterms:modified>
</cp:coreProperties>
</file>